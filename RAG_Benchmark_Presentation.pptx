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11515"/>
            <a:ext cx="832227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rPr dirty="0"/>
              <a:t>RAG System Benchmark with</a:t>
            </a:r>
            <a:endParaRPr lang="en-US" dirty="0"/>
          </a:p>
          <a:p>
            <a:pPr algn="ctr">
              <a:defRPr sz="3600" b="1">
                <a:solidFill>
                  <a:srgbClr val="2C3E50"/>
                </a:solidFill>
              </a:defRPr>
            </a:pPr>
            <a:r>
              <a:rPr dirty="0"/>
              <a:t>Explainability and Hallucination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539" y="2514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rPr dirty="0"/>
              <a:t>Improving Trust and Reliability in RAG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MalikaReddy Eppa, DhanaSree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807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rPr dirty="0"/>
              <a:t>CS 599: Contemporary Developments in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4938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rPr dirty="0"/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rPr dirty="0"/>
              <a:t>Definition:</a:t>
            </a:r>
            <a:endParaRPr lang="en-US" dirty="0"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rPr lang="en-US" dirty="0"/>
              <a:t>	RAG stands for Retrieval-Augmented Generation</a:t>
            </a:r>
            <a:endParaRPr dirty="0"/>
          </a:p>
          <a:p>
            <a:pPr lvl="1"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rPr dirty="0"/>
              <a:t>RAG combines information retrieval with text generation</a:t>
            </a:r>
          </a:p>
          <a:p>
            <a:pPr lvl="1"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rPr dirty="0"/>
              <a:t>Grounds LLM outputs in factual knowledge bases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rPr dirty="0"/>
              <a:t>How it works:</a:t>
            </a:r>
          </a:p>
          <a:p>
            <a:pPr lvl="1"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rPr dirty="0"/>
              <a:t>1. User query → Retrieve relevant documents from knowledge base</a:t>
            </a:r>
          </a:p>
          <a:p>
            <a:pPr lvl="1"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rPr dirty="0"/>
              <a:t>2. Retrieved context + query → LLM generates response</a:t>
            </a:r>
          </a:p>
          <a:p>
            <a:pPr lvl="1"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rPr dirty="0"/>
              <a:t>3. Response grounded in factual sources</a:t>
            </a:r>
          </a:p>
          <a:p>
            <a:pPr>
              <a:spcAft>
                <a:spcPts val="800"/>
              </a:spcAft>
              <a:defRPr sz="1400">
                <a:solidFill>
                  <a:srgbClr val="34495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 b="1">
                <a:solidFill>
                  <a:srgbClr val="34495E"/>
                </a:solidFill>
              </a:defRPr>
            </a:pPr>
            <a:r>
              <a:rPr lang="en-US" dirty="0"/>
              <a:t>Advantage</a:t>
            </a:r>
            <a:r>
              <a:rPr dirty="0"/>
              <a:t>: Reduces hallucinations and provides verifiable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Motivation: Critical Challenges in RAG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1. Lack of Systematic Evaluation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68% of production RAG systems lack standardized metrics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Unpredictable performance and user distrust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2. Answer Opacity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Users don't know WHY a specific answer was generated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No transparency on WHICH sources contributed evidence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3. Hallucination Risk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RAG systems hallucinate in 12-23% of queries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Medical study: 34% lower trust without explainability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Objectives and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1. Benchmark 4 RAG Configurations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Compare retrieval strategies using standard metrics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Precision@k, MRR, Faithfulness, Latency, Cost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2. Implement Evidence-Based Explainability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Build UI showing retrieved chunks and relevance scores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Source attribution for every answer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3. Deploy Hallucination Guardrails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Confidence thresholding to refuse insufficient answers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4. Validate with Ground Truth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Use MS MARCO or Natural Questions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RAG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t>Basic workflow showing query processing, retrieval, and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645920" cy="731520"/>
          </a:xfrm>
          <a:prstGeom prst="roundRect">
            <a:avLst/>
          </a:prstGeom>
          <a:solidFill>
            <a:srgbClr val="BDC3C7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rPr dirty="0"/>
              <a:t>User Query</a:t>
            </a:r>
            <a:endParaRPr lang="en-US" dirty="0"/>
          </a:p>
          <a:p>
            <a:pPr algn="ctr">
              <a:defRPr sz="1600" b="1">
                <a:solidFill>
                  <a:srgbClr val="2C3E50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2C3E50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1645920" cy="731520"/>
          </a:xfrm>
          <a:prstGeom prst="roundRect">
            <a:avLst/>
          </a:prstGeom>
          <a:solidFill>
            <a:srgbClr val="BDC3C7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Document</a:t>
            </a:r>
            <a:r>
              <a:rPr lang="en-US" dirty="0"/>
              <a:t> </a:t>
            </a:r>
            <a:endParaRPr dirty="0"/>
          </a:p>
          <a:p>
            <a:r>
              <a:rPr lang="en-US" dirty="0"/>
              <a:t>      </a:t>
            </a:r>
            <a:r>
              <a:rPr dirty="0"/>
              <a:t>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011680"/>
            <a:ext cx="1645920" cy="731520"/>
          </a:xfrm>
          <a:prstGeom prst="roundRect">
            <a:avLst/>
          </a:prstGeom>
          <a:solidFill>
            <a:srgbClr val="BDC3C7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LLM</a:t>
            </a:r>
          </a:p>
          <a:p>
            <a:r>
              <a:rPr lang="en-US" dirty="0"/>
              <a:t>    </a:t>
            </a:r>
            <a:r>
              <a:rPr dirty="0"/>
              <a:t>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1645920" cy="731520"/>
          </a:xfrm>
          <a:prstGeom prst="roundRect">
            <a:avLst/>
          </a:prstGeom>
          <a:solidFill>
            <a:srgbClr val="2980B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Grounded</a:t>
            </a:r>
          </a:p>
          <a:p>
            <a:r>
              <a:rPr lang="en-US" dirty="0"/>
              <a:t>     </a:t>
            </a:r>
            <a:r>
              <a:rPr dirty="0"/>
              <a:t>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383280"/>
            <a:ext cx="1645920" cy="731520"/>
          </a:xfrm>
          <a:prstGeom prst="roundRect">
            <a:avLst/>
          </a:prstGeom>
          <a:solidFill>
            <a:srgbClr val="BDC3C7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C3E50"/>
                </a:solidFill>
              </a:defRPr>
            </a:pPr>
            <a:r>
              <a:rPr dirty="0"/>
              <a:t>Knowledge</a:t>
            </a:r>
          </a:p>
          <a:p>
            <a:r>
              <a:rPr lang="en-US" dirty="0"/>
              <a:t>          </a:t>
            </a:r>
            <a:r>
              <a:rPr dirty="0"/>
              <a:t>Base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240280"/>
            <a:ext cx="365760" cy="274320"/>
          </a:xfrm>
          <a:prstGeom prst="rightArrow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572000" y="2240280"/>
            <a:ext cx="365760" cy="274320"/>
          </a:xfrm>
          <a:prstGeom prst="rightArrow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6583680" y="2240280"/>
            <a:ext cx="365760" cy="274320"/>
          </a:xfrm>
          <a:prstGeom prst="rightArrow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p Arrow 11"/>
          <p:cNvSpPr/>
          <p:nvPr/>
        </p:nvSpPr>
        <p:spPr>
          <a:xfrm>
            <a:off x="3611880" y="2743200"/>
            <a:ext cx="274320" cy="640080"/>
          </a:xfrm>
          <a:prstGeom prst="upArrow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4495E"/>
                </a:solidFill>
              </a:defRPr>
            </a:pPr>
            <a:r>
              <a:t>Components: Embeddings (text-embedding-3-small) • Vector DB (Chroma) • LLM (GPT-3.5/4o-mini) • Reranker (Cohere)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4495E"/>
                </a:solidFill>
              </a:defRPr>
            </a:pPr>
            <a:r>
              <a:t>Included: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Public QA dataset (MS MARCO/Natural Questions)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4 RAG configurations with comparative benchmarking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Streamlit web application with evidence panel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Hallucination guardrails with confidence scoring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200" b="1">
                <a:solidFill>
                  <a:srgbClr val="34495E"/>
                </a:solidFill>
              </a:defRPr>
            </a:pPr>
            <a:r>
              <a:t>Excluded: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Production cloud deployment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Custom document ingestion pipeline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Multimodal retrieval (text-only)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Fine-tuning LLMs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Four RAG Configurations to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Configuration 1: Baseline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Semantic search (embeddings) + GPT-3.5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Configuration 2: Hybrid Search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Combines BM25 (lexical) + semantic search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Weighted combination (0.5/0.5)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Configuration 3: With Reranker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Cohere Rerank API to re-score top-10 candidates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Configuration 4: Query Decomposition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Split complex questions → retrieve separately → synthesize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Tools, Techniques, and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495E"/>
                </a:solidFill>
              </a:defRPr>
            </a:pPr>
            <a:r>
              <a:t>Component</a:t>
            </a:r>
          </a:p>
          <a:p>
            <a:pPr>
              <a:spcAft>
                <a:spcPts val="800"/>
              </a:spcAft>
              <a:defRPr sz="6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LLM: GPT-3.5-turbo, GPT-4o-mini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Embeddings: text-embedding-3-small (MTEB rank #3)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Vector Database: Chroma (local dev), Pinecone (optional)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Reranker: Cohere Rerank API (BEIR SOTA)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BM25: Elasticsearch / rank-bm25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Framework: LangChain 0.1.x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NLI Model: DeBERTa-v3-large-NLI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UI: Streamlit</a:t>
            </a:r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Evaluation: RAGAS library (Faithfulness metrics)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Explainability and Guardrails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Evidence Panel UI: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Show top-3 retrieved chunks with highlighting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Display relevance scores for each chunk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Source attribution and links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Hallucination Guardrails: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Confidence scoring based on retrieval score threshold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Refuse to answer if max retrieval score &lt; 0.6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Optional: NLI-based answer-evidence entailment check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User Trust: A/B testing with 5 users (Likert scale survey)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Retrieval Metrics: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Precision@k: Relevance of top-k results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MRR@10: Mean Reciprocal Rank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Generation Metrics: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ROUGE-L: Lexical overlap with ground truth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Faithfulness: NLI-based answer-evidence entailment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1">
                <a:solidFill>
                  <a:srgbClr val="34495E"/>
                </a:solidFill>
              </a:defRPr>
            </a:pPr>
            <a:r>
              <a:t>Operational Metrics: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Median latency (ms)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Cost per query ($)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Timeline (4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Week 1: Data Preparation + Baseline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Download MS MARCO, generate embeddings, implement baseline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Week 2: Advanced Configurations + Benchmarking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Implement 4 configs, run evaluation on 500 queries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Week 3: Explainability + Guardrails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Build Streamlit UI, implement guardrail logic, user testing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Week 4: Documentation + Reporting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Generate benchmark report, final documentation, demo video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Advantages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4495E"/>
                </a:solidFill>
              </a:defRPr>
            </a:pPr>
            <a:r>
              <a:t>Pros / Advantages: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Systematic comparison of RAG strategies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Improved trust through explainability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Reduced hallucinations with guardrails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✓ Quantifiable metrics (accuracy, latency, cost)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2200" b="1">
                <a:solidFill>
                  <a:srgbClr val="34495E"/>
                </a:solidFill>
              </a:defRPr>
            </a:pPr>
            <a:r>
              <a:t>Cons / Challenges: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API costs and rate limits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Potential guardrail false positives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Limited to static benchmark (no schema changes)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✗ NLI model latency overhead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Expected Outcomes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1. Benchmark Report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Comparison table with statistical significance tests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Cost-benefit analysis for each configuration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2. Web Application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GitHub repo with Streamlit app and Docker container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3. Evidence Panel UI Demo</a:t>
            </a:r>
          </a:p>
          <a:p>
            <a:pPr lvl="1">
              <a:spcAft>
                <a:spcPts val="800"/>
              </a:spcAft>
              <a:defRPr sz="1600">
                <a:solidFill>
                  <a:srgbClr val="34495E"/>
                </a:solidFill>
              </a:defRPr>
            </a:pPr>
            <a:r>
              <a:t>Screenshot showing query, answer, chunks, scores</a:t>
            </a:r>
          </a:p>
          <a:p>
            <a:pPr>
              <a:spcAft>
                <a:spcPts val="800"/>
              </a:spcAft>
              <a:defRPr sz="8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700" b="1">
                <a:solidFill>
                  <a:srgbClr val="34495E"/>
                </a:solidFill>
              </a:defRPr>
            </a:pPr>
            <a:r>
              <a:t>Success Criteria: ≥15% improvement in Faithfulness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Problem: RAG systems lack evaluation, explainability,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and hallucination controls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34495E"/>
                </a:solidFill>
              </a:defRPr>
            </a:pPr>
            <a:r>
              <a:t>Solution: Comprehensive benchmarking framework with: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• 4 RAG configurations comparison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• Evidence-based explainability UI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• Hallucination guardrails</a:t>
            </a:r>
          </a:p>
          <a:p>
            <a:pPr lvl="1"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• Ground truth validation</a:t>
            </a:r>
          </a:p>
          <a:p>
            <a:pPr>
              <a:spcAft>
                <a:spcPts val="800"/>
              </a:spcAft>
              <a:defRPr sz="1000">
                <a:solidFill>
                  <a:srgbClr val="34495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 b="1">
                <a:solidFill>
                  <a:srgbClr val="34495E"/>
                </a:solidFill>
              </a:defRPr>
            </a:pPr>
            <a:r>
              <a:t>Impact: Enable informed decisions on RAG deployment</a:t>
            </a:r>
          </a:p>
          <a:p>
            <a:pPr>
              <a:spcAft>
                <a:spcPts val="800"/>
              </a:spcAft>
              <a:defRPr sz="1700">
                <a:solidFill>
                  <a:srgbClr val="34495E"/>
                </a:solidFill>
              </a:defRPr>
            </a:pPr>
            <a:r>
              <a:t>with measurable trade-offs in accuracy, latency, and cost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BD5A-4CBB-1989-42D2-1F12561A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77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8EE7D-9DD6-C8A8-CA89-29C00358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2B7E-DDB9-C815-7F50-09700FCC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58485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834</Words>
  <Application>Microsoft Office PowerPoint</Application>
  <PresentationFormat>On-screen Show (4:3)</PresentationFormat>
  <Paragraphs>166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THANK YOU!</vt:lpstr>
      <vt:lpstr>       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Shiva</cp:lastModifiedBy>
  <cp:revision>2</cp:revision>
  <dcterms:created xsi:type="dcterms:W3CDTF">2013-01-27T09:14:16Z</dcterms:created>
  <dcterms:modified xsi:type="dcterms:W3CDTF">2026-02-17T23:57:30Z</dcterms:modified>
  <cp:category/>
</cp:coreProperties>
</file>